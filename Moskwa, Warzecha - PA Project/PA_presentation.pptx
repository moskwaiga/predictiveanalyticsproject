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"/>
  </p:notesMasterIdLst>
  <p:handoutMasterIdLst>
    <p:handoutMasterId r:id="rId10"/>
  </p:handoutMasterIdLst>
  <p:sldIdLst>
    <p:sldId id="286" r:id="rId2"/>
    <p:sldId id="302" r:id="rId3"/>
    <p:sldId id="289" r:id="rId4"/>
    <p:sldId id="296" r:id="rId5"/>
    <p:sldId id="297" r:id="rId6"/>
    <p:sldId id="300" r:id="rId7"/>
    <p:sldId id="293" r:id="rId8"/>
  </p:sldIdLst>
  <p:sldSz cx="12192000" cy="6858000"/>
  <p:notesSz cx="6797675" cy="9926638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90E"/>
    <a:srgbClr val="CC3300"/>
    <a:srgbClr val="B11D09"/>
    <a:srgbClr val="FFD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868" autoAdjust="0"/>
    <p:restoredTop sz="81567" autoAdjust="0"/>
  </p:normalViewPr>
  <p:slideViewPr>
    <p:cSldViewPr snapToObjects="1">
      <p:cViewPr varScale="1">
        <p:scale>
          <a:sx n="90" d="100"/>
          <a:sy n="90" d="100"/>
        </p:scale>
        <p:origin x="1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2410370A-4EA9-4720-9F5E-1510D96B425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30C2684-42A7-4DF6-9FE1-7001D186709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08051A36-CCDA-46D6-8751-4C8D74526861}" type="datetimeFigureOut">
              <a:rPr lang="pl-PL"/>
              <a:pPr>
                <a:defRPr/>
              </a:pPr>
              <a:t>2.12.2025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9ACFDFD6-3813-49B7-BB0F-191E9B212A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382F540B-711C-459B-8E06-9C4104A3CF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18F4FCD9-BA7F-48A7-B3B3-82ADBA7B3B21}" type="slidenum">
              <a:rPr lang="pl-PL" altLang="pl-PL"/>
              <a:pPr/>
              <a:t>‹#›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>
            <a:extLst>
              <a:ext uri="{FF2B5EF4-FFF2-40B4-BE49-F238E27FC236}">
                <a16:creationId xmlns:a16="http://schemas.microsoft.com/office/drawing/2014/main" id="{D818A71B-DC1F-408C-B3D1-E849FB7B4B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E9C2135F-0056-4A00-9936-7DC2A5ED369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100282" tIns="50141" rIns="100282" bIns="50141" rtlCol="0"/>
          <a:lstStyle>
            <a:lvl1pPr algn="r">
              <a:defRPr sz="1300" smtClean="0">
                <a:latin typeface="Arial" charset="0"/>
                <a:cs typeface="+mn-cs"/>
              </a:defRPr>
            </a:lvl1pPr>
          </a:lstStyle>
          <a:p>
            <a:pPr>
              <a:defRPr/>
            </a:pPr>
            <a:fld id="{9958589B-E6FC-4863-935D-DE3851DA945C}" type="datetimeFigureOut">
              <a:rPr lang="pl-PL"/>
              <a:pPr>
                <a:defRPr/>
              </a:pPr>
              <a:t>2.12.2025</a:t>
            </a:fld>
            <a:endParaRPr lang="pl-PL"/>
          </a:p>
        </p:txBody>
      </p:sp>
      <p:sp>
        <p:nvSpPr>
          <p:cNvPr id="4" name="Symbol zastępczy obrazu slajdu 3">
            <a:extLst>
              <a:ext uri="{FF2B5EF4-FFF2-40B4-BE49-F238E27FC236}">
                <a16:creationId xmlns:a16="http://schemas.microsoft.com/office/drawing/2014/main" id="{2A0AA2D0-0220-4B41-946E-A13520E09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00282" tIns="50141" rIns="100282" bIns="50141" rtlCol="0" anchor="ctr"/>
          <a:lstStyle/>
          <a:p>
            <a:pPr lvl="0"/>
            <a:endParaRPr lang="pl-PL" noProof="0"/>
          </a:p>
        </p:txBody>
      </p:sp>
      <p:sp>
        <p:nvSpPr>
          <p:cNvPr id="5" name="Symbol zastępczy notatek 4">
            <a:extLst>
              <a:ext uri="{FF2B5EF4-FFF2-40B4-BE49-F238E27FC236}">
                <a16:creationId xmlns:a16="http://schemas.microsoft.com/office/drawing/2014/main" id="{ED235504-81E4-44E6-8904-ECD328F559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100282" tIns="50141" rIns="100282" bIns="50141" rtlCol="0"/>
          <a:lstStyle/>
          <a:p>
            <a:pPr lvl="0"/>
            <a:r>
              <a:rPr lang="pl-PL" noProof="0"/>
              <a:t>Kliknij, aby edytować style wzorca tekstu</a:t>
            </a:r>
          </a:p>
          <a:p>
            <a:pPr lvl="1"/>
            <a:r>
              <a:rPr lang="pl-PL" noProof="0"/>
              <a:t>Drugi poziom</a:t>
            </a:r>
          </a:p>
          <a:p>
            <a:pPr lvl="2"/>
            <a:r>
              <a:rPr lang="pl-PL" noProof="0"/>
              <a:t>Trzeci poziom</a:t>
            </a:r>
          </a:p>
          <a:p>
            <a:pPr lvl="3"/>
            <a:r>
              <a:rPr lang="pl-PL" noProof="0"/>
              <a:t>Czwarty poziom</a:t>
            </a:r>
          </a:p>
          <a:p>
            <a:pPr lvl="4"/>
            <a:r>
              <a:rPr lang="pl-PL" noProof="0"/>
              <a:t>Piąty poziom</a:t>
            </a:r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F6D310A0-03E4-4B1C-8E07-370908C2DC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100282" tIns="50141" rIns="100282" bIns="50141" rtlCol="0" anchor="b"/>
          <a:lstStyle>
            <a:lvl1pPr algn="l">
              <a:defRPr sz="1300">
                <a:latin typeface="Arial" charset="0"/>
                <a:cs typeface="+mn-cs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4850364-4A0B-4F60-93B9-58F4EA961F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100282" tIns="50141" rIns="100282" bIns="5014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D580E2B2-3987-459E-9E73-FCE4CF2EC872}" type="slidenum">
              <a:rPr lang="pl-PL" altLang="pl-PL"/>
              <a:pPr/>
              <a:t>‹#›</a:t>
            </a:fld>
            <a:endParaRPr lang="pl-PL" alt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1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2949375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2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872651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3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4175315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4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1043297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5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4161290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80E2B2-3987-459E-9E73-FCE4CF2EC872}" type="slidenum">
              <a:rPr lang="pl-PL" altLang="pl-PL" smtClean="0"/>
              <a:pPr/>
              <a:t>6</a:t>
            </a:fld>
            <a:endParaRPr lang="pl-PL" altLang="pl-PL"/>
          </a:p>
        </p:txBody>
      </p:sp>
    </p:spTree>
    <p:extLst>
      <p:ext uri="{BB962C8B-B14F-4D97-AF65-F5344CB8AC3E}">
        <p14:creationId xmlns:p14="http://schemas.microsoft.com/office/powerpoint/2010/main" val="3922331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ytuł 1">
            <a:extLst>
              <a:ext uri="{FF2B5EF4-FFF2-40B4-BE49-F238E27FC236}">
                <a16:creationId xmlns:a16="http://schemas.microsoft.com/office/drawing/2014/main" id="{138B1951-AD23-4425-9B6F-B6FE41B8412E}"/>
              </a:ext>
            </a:extLst>
          </p:cNvPr>
          <p:cNvSpPr txBox="1">
            <a:spLocks/>
          </p:cNvSpPr>
          <p:nvPr/>
        </p:nvSpPr>
        <p:spPr bwMode="auto">
          <a:xfrm>
            <a:off x="387351" y="2420939"/>
            <a:ext cx="11521016" cy="136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rIns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4000" b="1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latin typeface="Trebuchet MS" pitchFamily="34" charset="0"/>
              </a:defRPr>
            </a:lvl9pPr>
          </a:lstStyle>
          <a:p>
            <a:pPr>
              <a:defRPr/>
            </a:pPr>
            <a:endParaRPr lang="pl-PL" sz="4000" kern="0" dirty="0">
              <a:latin typeface="Calibri" panose="020F050202020403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28D5811-6A0A-468C-90DC-4B945CF41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5951539"/>
            <a:ext cx="143933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871531" y="1988840"/>
            <a:ext cx="10152536" cy="47525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871531" y="116632"/>
            <a:ext cx="10152536" cy="1728192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5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8F1A1287-80D1-49F2-BADB-63A496BF1E38}"/>
              </a:ext>
            </a:extLst>
          </p:cNvPr>
          <p:cNvSpPr/>
          <p:nvPr userDrawn="1"/>
        </p:nvSpPr>
        <p:spPr>
          <a:xfrm>
            <a:off x="0" y="0"/>
            <a:ext cx="1678918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054E3832-9100-4002-B6F1-CF8628753A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95" y="136682"/>
            <a:ext cx="1228207" cy="1778729"/>
          </a:xfrm>
          <a:prstGeom prst="rect">
            <a:avLst/>
          </a:prstGeom>
        </p:spPr>
      </p:pic>
      <p:sp>
        <p:nvSpPr>
          <p:cNvPr id="17" name="Prostokąt 16">
            <a:extLst>
              <a:ext uri="{FF2B5EF4-FFF2-40B4-BE49-F238E27FC236}">
                <a16:creationId xmlns:a16="http://schemas.microsoft.com/office/drawing/2014/main" id="{C2A4E921-2519-4294-B815-59F4A13390F9}"/>
              </a:ext>
            </a:extLst>
          </p:cNvPr>
          <p:cNvSpPr/>
          <p:nvPr userDrawn="1"/>
        </p:nvSpPr>
        <p:spPr>
          <a:xfrm>
            <a:off x="256085" y="5081591"/>
            <a:ext cx="1152128" cy="136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l-P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 dirty="0"/>
          </a:p>
        </p:txBody>
      </p:sp>
      <p:pic>
        <p:nvPicPr>
          <p:cNvPr id="18" name="Symbol zastępczy obrazu 4">
            <a:extLst>
              <a:ext uri="{FF2B5EF4-FFF2-40B4-BE49-F238E27FC236}">
                <a16:creationId xmlns:a16="http://schemas.microsoft.com/office/drawing/2014/main" id="{67166448-885E-4A21-8B9D-038F6BCA98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428888" y="5802552"/>
            <a:ext cx="796922" cy="56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Obraz 18">
            <a:extLst>
              <a:ext uri="{FF2B5EF4-FFF2-40B4-BE49-F238E27FC236}">
                <a16:creationId xmlns:a16="http://schemas.microsoft.com/office/drawing/2014/main" id="{2AF32D63-C336-4DE1-AC06-BB8C3083E5A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9" y="5231107"/>
            <a:ext cx="937241" cy="4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66992"/>
      </p:ext>
    </p:extLst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4">
            <a:extLst>
              <a:ext uri="{FF2B5EF4-FFF2-40B4-BE49-F238E27FC236}">
                <a16:creationId xmlns:a16="http://schemas.microsoft.com/office/drawing/2014/main" id="{554F3A11-EEA8-42B0-904A-8D56848B8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934" y="5951539"/>
            <a:ext cx="143933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6272226" y="2492896"/>
            <a:ext cx="5751841" cy="1152128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25" name="Symbol zastępczy obrazu 2"/>
          <p:cNvSpPr>
            <a:spLocks noGrp="1"/>
          </p:cNvSpPr>
          <p:nvPr>
            <p:ph type="pic" idx="1"/>
          </p:nvPr>
        </p:nvSpPr>
        <p:spPr>
          <a:xfrm>
            <a:off x="1871531" y="116632"/>
            <a:ext cx="4224469" cy="66247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</a:p>
        </p:txBody>
      </p:sp>
      <p:sp>
        <p:nvSpPr>
          <p:cNvPr id="10" name="Symbol zastępczy tekstu 2"/>
          <p:cNvSpPr>
            <a:spLocks noGrp="1"/>
          </p:cNvSpPr>
          <p:nvPr>
            <p:ph type="body" idx="11"/>
          </p:nvPr>
        </p:nvSpPr>
        <p:spPr>
          <a:xfrm>
            <a:off x="6272226" y="116632"/>
            <a:ext cx="5751841" cy="2232248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1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Symbol zastępczy zawartości 2"/>
          <p:cNvSpPr>
            <a:spLocks noGrp="1"/>
          </p:cNvSpPr>
          <p:nvPr>
            <p:ph sz="half" idx="12"/>
          </p:nvPr>
        </p:nvSpPr>
        <p:spPr>
          <a:xfrm>
            <a:off x="6272225" y="3861048"/>
            <a:ext cx="5751843" cy="2880320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9" name="Prostokąt 8">
            <a:extLst>
              <a:ext uri="{FF2B5EF4-FFF2-40B4-BE49-F238E27FC236}">
                <a16:creationId xmlns:a16="http://schemas.microsoft.com/office/drawing/2014/main" id="{044D2146-237E-446E-96A3-073E895DF9EF}"/>
              </a:ext>
            </a:extLst>
          </p:cNvPr>
          <p:cNvSpPr/>
          <p:nvPr userDrawn="1"/>
        </p:nvSpPr>
        <p:spPr>
          <a:xfrm>
            <a:off x="0" y="0"/>
            <a:ext cx="1678918" cy="6858000"/>
          </a:xfrm>
          <a:prstGeom prst="rect">
            <a:avLst/>
          </a:prstGeom>
          <a:solidFill>
            <a:srgbClr val="B11D09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D10C243E-6135-4B5D-8478-8D1C90B512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95" y="136682"/>
            <a:ext cx="1228207" cy="1778729"/>
          </a:xfrm>
          <a:prstGeom prst="rect">
            <a:avLst/>
          </a:prstGeom>
        </p:spPr>
      </p:pic>
      <p:sp>
        <p:nvSpPr>
          <p:cNvPr id="19" name="Prostokąt 18">
            <a:extLst>
              <a:ext uri="{FF2B5EF4-FFF2-40B4-BE49-F238E27FC236}">
                <a16:creationId xmlns:a16="http://schemas.microsoft.com/office/drawing/2014/main" id="{77C1AE52-6F05-4D88-B2EB-EBE30CDBE8CD}"/>
              </a:ext>
            </a:extLst>
          </p:cNvPr>
          <p:cNvSpPr/>
          <p:nvPr userDrawn="1"/>
        </p:nvSpPr>
        <p:spPr>
          <a:xfrm>
            <a:off x="256085" y="5081591"/>
            <a:ext cx="1152128" cy="13684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l-PL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 dirty="0"/>
          </a:p>
        </p:txBody>
      </p:sp>
      <p:pic>
        <p:nvPicPr>
          <p:cNvPr id="20" name="Symbol zastępczy obrazu 4">
            <a:extLst>
              <a:ext uri="{FF2B5EF4-FFF2-40B4-BE49-F238E27FC236}">
                <a16:creationId xmlns:a16="http://schemas.microsoft.com/office/drawing/2014/main" id="{5F46E874-101C-46F7-90BA-C3D9120F43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-3056" r="-542" b="2946"/>
          <a:stretch>
            <a:fillRect/>
          </a:stretch>
        </p:blipFill>
        <p:spPr bwMode="auto">
          <a:xfrm>
            <a:off x="428888" y="5802552"/>
            <a:ext cx="796922" cy="5675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Obraz 20">
            <a:extLst>
              <a:ext uri="{FF2B5EF4-FFF2-40B4-BE49-F238E27FC236}">
                <a16:creationId xmlns:a16="http://schemas.microsoft.com/office/drawing/2014/main" id="{D719F630-3FDA-4858-AF6A-BF436F28AB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9" y="5231107"/>
            <a:ext cx="937241" cy="426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04369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ole tekstowe 4">
            <a:extLst>
              <a:ext uri="{FF2B5EF4-FFF2-40B4-BE49-F238E27FC236}">
                <a16:creationId xmlns:a16="http://schemas.microsoft.com/office/drawing/2014/main" id="{C86E8BA2-DF0C-4553-ABEE-2AA703CAD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A7CBBD8-F20F-4CFA-A1C0-A2BD928C98EE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3" y="1556792"/>
            <a:ext cx="11016635" cy="5256584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8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Symbol zastępczy tekstu 2"/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grpSp>
        <p:nvGrpSpPr>
          <p:cNvPr id="2" name="Grupa 1">
            <a:extLst>
              <a:ext uri="{FF2B5EF4-FFF2-40B4-BE49-F238E27FC236}">
                <a16:creationId xmlns:a16="http://schemas.microsoft.com/office/drawing/2014/main" id="{15B8C060-797C-495C-BC8A-2154F3CEEC35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10" name="Prostokąt 9">
              <a:extLst>
                <a:ext uri="{FF2B5EF4-FFF2-40B4-BE49-F238E27FC236}">
                  <a16:creationId xmlns:a16="http://schemas.microsoft.com/office/drawing/2014/main" id="{92C32551-02FA-4391-BD24-420530585A40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1" name="Obraz 10">
              <a:extLst>
                <a:ext uri="{FF2B5EF4-FFF2-40B4-BE49-F238E27FC236}">
                  <a16:creationId xmlns:a16="http://schemas.microsoft.com/office/drawing/2014/main" id="{C94A9103-2040-4CBB-8F48-63134FA77A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48861775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a 10">
            <a:extLst>
              <a:ext uri="{FF2B5EF4-FFF2-40B4-BE49-F238E27FC236}">
                <a16:creationId xmlns:a16="http://schemas.microsoft.com/office/drawing/2014/main" id="{3AF413EC-A0EB-48C8-AAFB-7634DB218E41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12" name="Prostokąt 11">
              <a:extLst>
                <a:ext uri="{FF2B5EF4-FFF2-40B4-BE49-F238E27FC236}">
                  <a16:creationId xmlns:a16="http://schemas.microsoft.com/office/drawing/2014/main" id="{F446A836-1F6A-44FD-A507-72760F9AD1E7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3" name="Obraz 12">
              <a:extLst>
                <a:ext uri="{FF2B5EF4-FFF2-40B4-BE49-F238E27FC236}">
                  <a16:creationId xmlns:a16="http://schemas.microsoft.com/office/drawing/2014/main" id="{7E9E2F66-D036-47BF-9010-265CC9DE87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7" name="pole tekstowe 4">
            <a:extLst>
              <a:ext uri="{FF2B5EF4-FFF2-40B4-BE49-F238E27FC236}">
                <a16:creationId xmlns:a16="http://schemas.microsoft.com/office/drawing/2014/main" id="{8C20DE13-7457-4626-BE75-0D6CC48F2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DE4C6FF5-B562-440C-B37F-2991087E69D0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8" name="Symbol zastępczy obrazu 2"/>
          <p:cNvSpPr>
            <a:spLocks noGrp="1"/>
          </p:cNvSpPr>
          <p:nvPr>
            <p:ph type="pic" idx="1"/>
          </p:nvPr>
        </p:nvSpPr>
        <p:spPr>
          <a:xfrm>
            <a:off x="1007434" y="1844824"/>
            <a:ext cx="4896545" cy="49685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9" name="Symbol zastępczy zawartości 2"/>
          <p:cNvSpPr>
            <a:spLocks noGrp="1"/>
          </p:cNvSpPr>
          <p:nvPr>
            <p:ph idx="11"/>
          </p:nvPr>
        </p:nvSpPr>
        <p:spPr>
          <a:xfrm>
            <a:off x="6095238" y="1844824"/>
            <a:ext cx="5953423" cy="4968553"/>
          </a:xfrm>
        </p:spPr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  <a:lvl2pPr>
              <a:defRPr>
                <a:latin typeface="Calibri" panose="020F0502020204030204" pitchFamily="34" charset="0"/>
              </a:defRPr>
            </a:lvl2pPr>
            <a:lvl3pPr>
              <a:defRPr>
                <a:latin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</a:defRPr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4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5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3" y="1120626"/>
            <a:ext cx="11041227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977353814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a 8">
            <a:extLst>
              <a:ext uri="{FF2B5EF4-FFF2-40B4-BE49-F238E27FC236}">
                <a16:creationId xmlns:a16="http://schemas.microsoft.com/office/drawing/2014/main" id="{A8E7C890-083C-489A-BD2F-599A7E8934D0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11" name="Prostokąt 10">
              <a:extLst>
                <a:ext uri="{FF2B5EF4-FFF2-40B4-BE49-F238E27FC236}">
                  <a16:creationId xmlns:a16="http://schemas.microsoft.com/office/drawing/2014/main" id="{85B50D36-29A4-4384-AB09-BBD226989967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4" name="Obraz 13">
              <a:extLst>
                <a:ext uri="{FF2B5EF4-FFF2-40B4-BE49-F238E27FC236}">
                  <a16:creationId xmlns:a16="http://schemas.microsoft.com/office/drawing/2014/main" id="{A75D0FEB-0A6B-409B-AB8B-9AA6F6F460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7" name="pole tekstowe 4">
            <a:extLst>
              <a:ext uri="{FF2B5EF4-FFF2-40B4-BE49-F238E27FC236}">
                <a16:creationId xmlns:a16="http://schemas.microsoft.com/office/drawing/2014/main" id="{3ECACFEE-8855-436E-B24A-E1DC4A4FB3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F1D416BD-FDA9-41E2-9ABB-44EC43B1E1FC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4" y="1628801"/>
            <a:ext cx="5376599" cy="5112567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0" name="Symbol zastępczy zawartości 2"/>
          <p:cNvSpPr>
            <a:spLocks noGrp="1"/>
          </p:cNvSpPr>
          <p:nvPr>
            <p:ph sz="half" idx="11"/>
          </p:nvPr>
        </p:nvSpPr>
        <p:spPr>
          <a:xfrm>
            <a:off x="6576054" y="1628801"/>
            <a:ext cx="5477679" cy="5112566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4" y="44624"/>
            <a:ext cx="11046297" cy="50405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3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3" y="548680"/>
            <a:ext cx="11046299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361554396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a 9">
            <a:extLst>
              <a:ext uri="{FF2B5EF4-FFF2-40B4-BE49-F238E27FC236}">
                <a16:creationId xmlns:a16="http://schemas.microsoft.com/office/drawing/2014/main" id="{76BF23AB-D7A2-473F-B25D-1D68588F1728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13" name="Prostokąt 12">
              <a:extLst>
                <a:ext uri="{FF2B5EF4-FFF2-40B4-BE49-F238E27FC236}">
                  <a16:creationId xmlns:a16="http://schemas.microsoft.com/office/drawing/2014/main" id="{C6E2C7D1-3BD9-4A24-B4CF-104AFC655614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4" name="Obraz 13">
              <a:extLst>
                <a:ext uri="{FF2B5EF4-FFF2-40B4-BE49-F238E27FC236}">
                  <a16:creationId xmlns:a16="http://schemas.microsoft.com/office/drawing/2014/main" id="{08AE5F37-8A98-4B89-827B-0F6589C8C29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8" name="pole tekstowe 4">
            <a:extLst>
              <a:ext uri="{FF2B5EF4-FFF2-40B4-BE49-F238E27FC236}">
                <a16:creationId xmlns:a16="http://schemas.microsoft.com/office/drawing/2014/main" id="{719BE861-94A7-4968-91BA-651409160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EB2396A7-488D-4B29-B27E-B1F82536D5BA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Symbol zastępczy zawartości 2"/>
          <p:cNvSpPr>
            <a:spLocks noGrp="1"/>
          </p:cNvSpPr>
          <p:nvPr>
            <p:ph sz="half" idx="1"/>
          </p:nvPr>
        </p:nvSpPr>
        <p:spPr>
          <a:xfrm>
            <a:off x="1007435" y="1628801"/>
            <a:ext cx="5400552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2" name="Symbol zastępczy zawartości 2"/>
          <p:cNvSpPr>
            <a:spLocks noGrp="1"/>
          </p:cNvSpPr>
          <p:nvPr>
            <p:ph sz="half" idx="11"/>
          </p:nvPr>
        </p:nvSpPr>
        <p:spPr>
          <a:xfrm>
            <a:off x="6672064" y="1628801"/>
            <a:ext cx="5400552" cy="5184575"/>
          </a:xfrm>
        </p:spPr>
        <p:txBody>
          <a:bodyPr lIns="0" rIns="0"/>
          <a:lstStyle>
            <a:lvl1pPr>
              <a:defRPr sz="2800">
                <a:latin typeface="Calibri" panose="020F0502020204030204" pitchFamily="34" charset="0"/>
              </a:defRPr>
            </a:lvl1pPr>
            <a:lvl2pPr>
              <a:defRPr sz="2400">
                <a:latin typeface="Calibri" panose="020F0502020204030204" pitchFamily="34" charset="0"/>
              </a:defRPr>
            </a:lvl2pPr>
            <a:lvl3pPr>
              <a:defRPr sz="2000">
                <a:latin typeface="Calibri" panose="020F0502020204030204" pitchFamily="34" charset="0"/>
              </a:defRPr>
            </a:lvl3pPr>
            <a:lvl4pPr>
              <a:defRPr sz="1800">
                <a:latin typeface="Calibri" panose="020F0502020204030204" pitchFamily="34" charset="0"/>
              </a:defRPr>
            </a:lvl4pPr>
            <a:lvl5pPr>
              <a:defRPr sz="1800">
                <a:latin typeface="Calibri" panose="020F05020202040302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16" name="Symbol zastępczy tekstu 2"/>
          <p:cNvSpPr>
            <a:spLocks noGrp="1"/>
          </p:cNvSpPr>
          <p:nvPr>
            <p:ph type="body" idx="12"/>
          </p:nvPr>
        </p:nvSpPr>
        <p:spPr>
          <a:xfrm>
            <a:off x="1007434" y="116632"/>
            <a:ext cx="11016633" cy="864096"/>
          </a:xfr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7" name="Symbol zastępczy tekstu 2"/>
          <p:cNvSpPr>
            <a:spLocks noGrp="1"/>
          </p:cNvSpPr>
          <p:nvPr>
            <p:ph type="body" idx="10"/>
          </p:nvPr>
        </p:nvSpPr>
        <p:spPr>
          <a:xfrm>
            <a:off x="1007435" y="1120626"/>
            <a:ext cx="5400552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19" name="Symbol zastępczy tekstu 2"/>
          <p:cNvSpPr>
            <a:spLocks noGrp="1"/>
          </p:cNvSpPr>
          <p:nvPr>
            <p:ph type="body" idx="13"/>
          </p:nvPr>
        </p:nvSpPr>
        <p:spPr>
          <a:xfrm>
            <a:off x="6672064" y="1120626"/>
            <a:ext cx="5400552" cy="508175"/>
          </a:xfrm>
          <a:solidFill>
            <a:srgbClr val="C00000"/>
          </a:solidFill>
        </p:spPr>
        <p:txBody>
          <a:bodyPr lIns="108000" rIns="10800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200">
                <a:solidFill>
                  <a:schemeClr val="bg1"/>
                </a:solidFill>
                <a:latin typeface="Calibri" panose="020F0502020204030204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627539376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a 7">
            <a:extLst>
              <a:ext uri="{FF2B5EF4-FFF2-40B4-BE49-F238E27FC236}">
                <a16:creationId xmlns:a16="http://schemas.microsoft.com/office/drawing/2014/main" id="{C8288E89-3B0A-407D-A2A1-C9C3C74060EB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9" name="Prostokąt 8">
              <a:extLst>
                <a:ext uri="{FF2B5EF4-FFF2-40B4-BE49-F238E27FC236}">
                  <a16:creationId xmlns:a16="http://schemas.microsoft.com/office/drawing/2014/main" id="{A3CF7106-AAC5-4336-AEA0-B600B7DBB6D0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0" name="Obraz 9">
              <a:extLst>
                <a:ext uri="{FF2B5EF4-FFF2-40B4-BE49-F238E27FC236}">
                  <a16:creationId xmlns:a16="http://schemas.microsoft.com/office/drawing/2014/main" id="{1FF25586-59C3-4EC8-AB49-11F0E614971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6" name="pole tekstowe 4">
            <a:extLst>
              <a:ext uri="{FF2B5EF4-FFF2-40B4-BE49-F238E27FC236}">
                <a16:creationId xmlns:a16="http://schemas.microsoft.com/office/drawing/2014/main" id="{CB9EE27C-4280-4699-B0FB-00C29EC06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00900F33-D32C-4F5F-BC7D-BCD466A03069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11424" y="116632"/>
            <a:ext cx="4416491" cy="13184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519936" y="116632"/>
            <a:ext cx="6528725" cy="66247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911424" y="1435100"/>
            <a:ext cx="4416491" cy="53062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38823153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a 7">
            <a:extLst>
              <a:ext uri="{FF2B5EF4-FFF2-40B4-BE49-F238E27FC236}">
                <a16:creationId xmlns:a16="http://schemas.microsoft.com/office/drawing/2014/main" id="{B7638175-FCC2-4A2E-BD4B-C014158136BF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9" name="Prostokąt 8">
              <a:extLst>
                <a:ext uri="{FF2B5EF4-FFF2-40B4-BE49-F238E27FC236}">
                  <a16:creationId xmlns:a16="http://schemas.microsoft.com/office/drawing/2014/main" id="{FAC1082C-5AA9-4C8A-9F4F-BC1FBB2899FF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10" name="Obraz 9">
              <a:extLst>
                <a:ext uri="{FF2B5EF4-FFF2-40B4-BE49-F238E27FC236}">
                  <a16:creationId xmlns:a16="http://schemas.microsoft.com/office/drawing/2014/main" id="{C1D5298B-83A2-4B46-9D5B-3053833786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6" name="pole tekstowe 4">
            <a:extLst>
              <a:ext uri="{FF2B5EF4-FFF2-40B4-BE49-F238E27FC236}">
                <a16:creationId xmlns:a16="http://schemas.microsoft.com/office/drawing/2014/main" id="{38114D0A-9A9F-4AC0-AB2B-9D7ECEC1B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570C72BC-1685-4E5C-9AB7-8C22C053D087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3005269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007435" y="283"/>
            <a:ext cx="11184061" cy="47272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  <a:endParaRPr lang="pl-PL" noProof="0" dirty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3005269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1829431103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a 6">
            <a:extLst>
              <a:ext uri="{FF2B5EF4-FFF2-40B4-BE49-F238E27FC236}">
                <a16:creationId xmlns:a16="http://schemas.microsoft.com/office/drawing/2014/main" id="{794969D8-3780-45AC-AF1F-E1C5AA28CBA9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8" name="Prostokąt 7">
              <a:extLst>
                <a:ext uri="{FF2B5EF4-FFF2-40B4-BE49-F238E27FC236}">
                  <a16:creationId xmlns:a16="http://schemas.microsoft.com/office/drawing/2014/main" id="{3BFB7953-19B6-41F5-AAD5-D23DCF4695E6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9" name="Obraz 8">
              <a:extLst>
                <a:ext uri="{FF2B5EF4-FFF2-40B4-BE49-F238E27FC236}">
                  <a16:creationId xmlns:a16="http://schemas.microsoft.com/office/drawing/2014/main" id="{5F7E8FE9-0E36-44CC-98EC-31461F67D0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5" name="pole tekstowe 4">
            <a:extLst>
              <a:ext uri="{FF2B5EF4-FFF2-40B4-BE49-F238E27FC236}">
                <a16:creationId xmlns:a16="http://schemas.microsoft.com/office/drawing/2014/main" id="{9776E1DE-8E59-4FAF-828C-A1E3A9F6DC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2378A4F9-4C6D-448A-9C2B-718DC76E7A0A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07435" y="116632"/>
            <a:ext cx="11041227" cy="1548656"/>
          </a:xfrm>
        </p:spPr>
        <p:txBody>
          <a:bodyPr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07435" y="1772817"/>
            <a:ext cx="11041227" cy="4968551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13214643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a 6">
            <a:extLst>
              <a:ext uri="{FF2B5EF4-FFF2-40B4-BE49-F238E27FC236}">
                <a16:creationId xmlns:a16="http://schemas.microsoft.com/office/drawing/2014/main" id="{BB935609-CB55-405F-8B5E-32481A6CD997}"/>
              </a:ext>
            </a:extLst>
          </p:cNvPr>
          <p:cNvGrpSpPr/>
          <p:nvPr userDrawn="1"/>
        </p:nvGrpSpPr>
        <p:grpSpPr>
          <a:xfrm>
            <a:off x="0" y="0"/>
            <a:ext cx="839501" cy="6858000"/>
            <a:chOff x="0" y="0"/>
            <a:chExt cx="839501" cy="6858000"/>
          </a:xfrm>
        </p:grpSpPr>
        <p:sp>
          <p:nvSpPr>
            <p:cNvPr id="8" name="Prostokąt 7">
              <a:extLst>
                <a:ext uri="{FF2B5EF4-FFF2-40B4-BE49-F238E27FC236}">
                  <a16:creationId xmlns:a16="http://schemas.microsoft.com/office/drawing/2014/main" id="{B33CD6CA-CE75-4C42-A1BA-022400A1DA83}"/>
                </a:ext>
              </a:extLst>
            </p:cNvPr>
            <p:cNvSpPr/>
            <p:nvPr userDrawn="1"/>
          </p:nvSpPr>
          <p:spPr>
            <a:xfrm>
              <a:off x="0" y="0"/>
              <a:ext cx="839501" cy="6858000"/>
            </a:xfrm>
            <a:prstGeom prst="rect">
              <a:avLst/>
            </a:prstGeom>
            <a:solidFill>
              <a:srgbClr val="B11D09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/>
            </a:p>
          </p:txBody>
        </p:sp>
        <p:pic>
          <p:nvPicPr>
            <p:cNvPr id="9" name="Obraz 8">
              <a:extLst>
                <a:ext uri="{FF2B5EF4-FFF2-40B4-BE49-F238E27FC236}">
                  <a16:creationId xmlns:a16="http://schemas.microsoft.com/office/drawing/2014/main" id="{00981068-72BD-43CC-B5F6-A284719F0FB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9902" y="136682"/>
              <a:ext cx="533090" cy="772038"/>
            </a:xfrm>
            <a:prstGeom prst="rect">
              <a:avLst/>
            </a:prstGeom>
          </p:spPr>
        </p:pic>
      </p:grp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D3AAED1-1E56-4E0F-BA47-B297E2E36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6851"/>
            <a:ext cx="814917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fld id="{8EFA466E-1A63-45EC-9BBE-3350A7902656}" type="slidenum">
              <a:rPr lang="pl-PL" altLang="pl-PL" sz="100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pl-PL" altLang="pl-PL" sz="100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839200" y="116632"/>
            <a:ext cx="3209461" cy="6696744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1007435" y="116632"/>
            <a:ext cx="7628565" cy="6696744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03636459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4">
            <a:extLst>
              <a:ext uri="{FF2B5EF4-FFF2-40B4-BE49-F238E27FC236}">
                <a16:creationId xmlns:a16="http://schemas.microsoft.com/office/drawing/2014/main" id="{A9D2542B-478A-4E26-A12F-4232999A59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43934" y="115888"/>
            <a:ext cx="11040533" cy="154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1027" name="Rectangle 15">
            <a:extLst>
              <a:ext uri="{FF2B5EF4-FFF2-40B4-BE49-F238E27FC236}">
                <a16:creationId xmlns:a16="http://schemas.microsoft.com/office/drawing/2014/main" id="{3201AC01-9E6A-4CE5-A822-FEB3753C66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43934" y="1773239"/>
            <a:ext cx="11040533" cy="4968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ransition>
    <p:randomBar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1">
            <a:extLst>
              <a:ext uri="{FF2B5EF4-FFF2-40B4-BE49-F238E27FC236}">
                <a16:creationId xmlns:a16="http://schemas.microsoft.com/office/drawing/2014/main" id="{D082F18C-2043-4D64-8064-A753060752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72064" y="5301208"/>
            <a:ext cx="5352620" cy="936104"/>
          </a:xfrm>
        </p:spPr>
        <p:txBody>
          <a:bodyPr/>
          <a:lstStyle/>
          <a:p>
            <a:r>
              <a:rPr lang="pl-PL" dirty="0"/>
              <a:t>Iga Moskwa,</a:t>
            </a:r>
            <a:br>
              <a:rPr lang="pl-PL" dirty="0"/>
            </a:br>
            <a:r>
              <a:rPr lang="pl-PL" dirty="0"/>
              <a:t>Wojciech Warzecha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EC8470A-D0D2-4ECC-A4D3-F4CC7849E825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775520" y="1628800"/>
            <a:ext cx="10152536" cy="1728192"/>
          </a:xfrm>
        </p:spPr>
        <p:txBody>
          <a:bodyPr/>
          <a:lstStyle/>
          <a:p>
            <a:pPr lvl="0" algn="ctr"/>
            <a:r>
              <a:rPr lang="en-US" sz="3200" dirty="0"/>
              <a:t>Reproducing </a:t>
            </a:r>
            <a:r>
              <a:rPr lang="pl-PL" sz="3200" dirty="0"/>
              <a:t>„</a:t>
            </a:r>
            <a:r>
              <a:rPr lang="en-US" sz="3200" dirty="0"/>
              <a:t>A Note on Averaging Day-Ahead Electricity Price Forecasts Across Calibration Windows</a:t>
            </a:r>
            <a:r>
              <a:rPr lang="pl-PL" sz="3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9901615"/>
      </p:ext>
    </p:extLst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D7345-6371-915D-D6A2-82783C97233E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Note on Averaging Day-Ahead Electricity Price Forecasts Across Calibration Windows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AFB7C-3305-AC45-38F0-8BB5404B564A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en-US" dirty="0"/>
              <a:t>Why we choose this paper?</a:t>
            </a:r>
          </a:p>
        </p:txBody>
      </p:sp>
      <p:pic>
        <p:nvPicPr>
          <p:cNvPr id="6" name="Graphic 5" descr="High voltage with solid fill">
            <a:extLst>
              <a:ext uri="{FF2B5EF4-FFF2-40B4-BE49-F238E27FC236}">
                <a16:creationId xmlns:a16="http://schemas.microsoft.com/office/drawing/2014/main" id="{7D21FF09-4299-8B6E-0690-EBA55BDBA4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1544" y="2753843"/>
            <a:ext cx="864096" cy="864096"/>
          </a:xfrm>
          <a:prstGeom prst="rect">
            <a:avLst/>
          </a:prstGeom>
        </p:spPr>
      </p:pic>
      <p:pic>
        <p:nvPicPr>
          <p:cNvPr id="10" name="Graphic 9" descr="Dollar with solid fill">
            <a:extLst>
              <a:ext uri="{FF2B5EF4-FFF2-40B4-BE49-F238E27FC236}">
                <a16:creationId xmlns:a16="http://schemas.microsoft.com/office/drawing/2014/main" id="{FE0A3E50-4010-F9EE-CD1B-CA6770BA6E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82779" y="2724391"/>
            <a:ext cx="610774" cy="61077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403A3F-1F7D-8965-6350-7B31EF246005}"/>
              </a:ext>
            </a:extLst>
          </p:cNvPr>
          <p:cNvSpPr txBox="1"/>
          <p:nvPr/>
        </p:nvSpPr>
        <p:spPr>
          <a:xfrm>
            <a:off x="1267986" y="3855531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Data that we know – GEFCom2014</a:t>
            </a:r>
          </a:p>
        </p:txBody>
      </p:sp>
      <p:pic>
        <p:nvPicPr>
          <p:cNvPr id="13" name="Graphic 12" descr="Drawing Figure with solid fill">
            <a:extLst>
              <a:ext uri="{FF2B5EF4-FFF2-40B4-BE49-F238E27FC236}">
                <a16:creationId xmlns:a16="http://schemas.microsoft.com/office/drawing/2014/main" id="{BEF81AF9-899F-A47F-5C97-E978D94E3F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5190" y="2724391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DD67390-8C08-3A88-43E3-89299EA14832}"/>
              </a:ext>
            </a:extLst>
          </p:cNvPr>
          <p:cNvSpPr txBox="1"/>
          <p:nvPr/>
        </p:nvSpPr>
        <p:spPr>
          <a:xfrm>
            <a:off x="5154258" y="3840563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Model that we know ARX</a:t>
            </a:r>
          </a:p>
        </p:txBody>
      </p:sp>
      <p:pic>
        <p:nvPicPr>
          <p:cNvPr id="16" name="Graphic 15" descr="Good Idea with solid fill">
            <a:extLst>
              <a:ext uri="{FF2B5EF4-FFF2-40B4-BE49-F238E27FC236}">
                <a16:creationId xmlns:a16="http://schemas.microsoft.com/office/drawing/2014/main" id="{EF89076B-C63C-607E-DDF2-442FAC1F0F6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491228" y="2717464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749B160-557E-AAE1-4C01-26C613172D68}"/>
              </a:ext>
            </a:extLst>
          </p:cNvPr>
          <p:cNvSpPr txBox="1"/>
          <p:nvPr/>
        </p:nvSpPr>
        <p:spPr>
          <a:xfrm>
            <a:off x="8760296" y="3717032"/>
            <a:ext cx="2376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Simple idea but clever</a:t>
            </a:r>
          </a:p>
        </p:txBody>
      </p:sp>
    </p:spTree>
    <p:extLst>
      <p:ext uri="{BB962C8B-B14F-4D97-AF65-F5344CB8AC3E}">
        <p14:creationId xmlns:p14="http://schemas.microsoft.com/office/powerpoint/2010/main" val="1172099333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7E6C320-427C-182B-3BA4-262EE0A1337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/>
          <a:lstStyle/>
          <a:p>
            <a:r>
              <a:rPr lang="en-US" dirty="0"/>
              <a:t>A Note on Averaging Day-Ahead Electricity Price Forecasts Across Calibration Windows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2427AE8-F544-1D54-8FB7-27C2DA765B0F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620688"/>
            <a:ext cx="11046299" cy="864096"/>
          </a:xfrm>
        </p:spPr>
        <p:txBody>
          <a:bodyPr wrap="square" anchor="ctr">
            <a:normAutofit fontScale="70000" lnSpcReduction="20000"/>
          </a:bodyPr>
          <a:lstStyle/>
          <a:p>
            <a:pPr lvl="0"/>
            <a:r>
              <a:rPr lang="pl-PL" dirty="0"/>
              <a:t>How </a:t>
            </a:r>
            <a:r>
              <a:rPr lang="pl-PL" dirty="0" err="1"/>
              <a:t>did</a:t>
            </a:r>
            <a:r>
              <a:rPr lang="pl-PL" dirty="0"/>
              <a:t> the </a:t>
            </a:r>
            <a:r>
              <a:rPr lang="pl-PL" dirty="0" err="1"/>
              <a:t>authors</a:t>
            </a:r>
            <a:r>
              <a:rPr lang="pl-PL" dirty="0"/>
              <a:t> </a:t>
            </a:r>
            <a:r>
              <a:rPr lang="pl-PL" dirty="0" err="1"/>
              <a:t>search</a:t>
            </a:r>
            <a:r>
              <a:rPr lang="pl-PL" dirty="0"/>
              <a:t> for the </a:t>
            </a:r>
            <a:r>
              <a:rPr lang="pl-PL" dirty="0" err="1"/>
              <a:t>best</a:t>
            </a:r>
            <a:r>
              <a:rPr lang="pl-PL" dirty="0"/>
              <a:t> T, and </a:t>
            </a:r>
            <a:r>
              <a:rPr lang="pl-PL" dirty="0" err="1"/>
              <a:t>what</a:t>
            </a:r>
            <a:r>
              <a:rPr lang="pl-PL" dirty="0"/>
              <a:t> </a:t>
            </a:r>
            <a:r>
              <a:rPr lang="pl-PL" dirty="0" err="1"/>
              <a:t>did</a:t>
            </a:r>
            <a:r>
              <a:rPr lang="pl-PL" dirty="0"/>
              <a:t> </a:t>
            </a:r>
            <a:r>
              <a:rPr lang="pl-PL" dirty="0" err="1"/>
              <a:t>they</a:t>
            </a:r>
            <a:r>
              <a:rPr lang="pl-PL" dirty="0"/>
              <a:t> </a:t>
            </a:r>
            <a:r>
              <a:rPr lang="pl-PL" dirty="0" err="1"/>
              <a:t>find</a:t>
            </a:r>
            <a:r>
              <a:rPr lang="pl-PL" dirty="0"/>
              <a:t>?</a:t>
            </a:r>
          </a:p>
        </p:txBody>
      </p:sp>
      <p:pic>
        <p:nvPicPr>
          <p:cNvPr id="2" name="Obraz 12">
            <a:extLst>
              <a:ext uri="{FF2B5EF4-FFF2-40B4-BE49-F238E27FC236}">
                <a16:creationId xmlns:a16="http://schemas.microsoft.com/office/drawing/2014/main" id="{A1CC1931-8049-A913-EBB1-BE66327B0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970" y="1535121"/>
            <a:ext cx="6600737" cy="557331"/>
          </a:xfrm>
          <a:prstGeom prst="rect">
            <a:avLst/>
          </a:prstGeom>
        </p:spPr>
      </p:pic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13EA3400-740E-85E1-B6CF-2D29AE0EC1BC}"/>
              </a:ext>
            </a:extLst>
          </p:cNvPr>
          <p:cNvSpPr txBox="1">
            <a:spLocks/>
          </p:cNvSpPr>
          <p:nvPr/>
        </p:nvSpPr>
        <p:spPr>
          <a:xfrm>
            <a:off x="979794" y="1282419"/>
            <a:ext cx="11046299" cy="864096"/>
          </a:xfrm>
          <a:prstGeom prst="rect">
            <a:avLst/>
          </a:prstGeom>
        </p:spPr>
        <p:txBody>
          <a:bodyPr lIns="0" anchor="ctr"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4400" b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914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6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371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18288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2860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27432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 marL="32004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 marL="3657600" indent="0" algn="l" rtl="0" eaLnBrk="1" fontAlgn="base" hangingPunct="1">
              <a:spcBef>
                <a:spcPct val="20000"/>
              </a:spcBef>
              <a:spcAft>
                <a:spcPct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pl-PL" sz="2800" kern="0" dirty="0"/>
              <a:t>ARX model:</a:t>
            </a:r>
          </a:p>
        </p:txBody>
      </p:sp>
      <p:pic>
        <p:nvPicPr>
          <p:cNvPr id="7" name="Picture 6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559D48BA-EA3C-CA0E-2D47-31A8009F3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445" y="2877043"/>
            <a:ext cx="7272808" cy="3445850"/>
          </a:xfrm>
          <a:prstGeom prst="rect">
            <a:avLst/>
          </a:prstGeom>
        </p:spPr>
      </p:pic>
      <p:pic>
        <p:nvPicPr>
          <p:cNvPr id="9" name="Picture 8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F09E14BF-1684-097C-964B-E91E856E21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7145" y="3015792"/>
            <a:ext cx="3738817" cy="31683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37FD87D-A3FE-1E68-A00B-E5600CEEF147}"/>
              </a:ext>
            </a:extLst>
          </p:cNvPr>
          <p:cNvSpPr txBox="1"/>
          <p:nvPr/>
        </p:nvSpPr>
        <p:spPr>
          <a:xfrm>
            <a:off x="1233408" y="6294217"/>
            <a:ext cx="662473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Fig 1. Mean Absolute Errors (MAE) as a function of the window length T = 28, . . . , 728 (blue circles) and obtained by averaging forecasts across calibration windows (lines with symbols representing window lengths) for the</a:t>
            </a:r>
          </a:p>
          <a:p>
            <a:pPr algn="ctr"/>
            <a:r>
              <a:rPr lang="en-US" sz="900" b="1" dirty="0"/>
              <a:t>ARX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6C3E3B-84A3-2D02-0617-B9CF5BAEDAF5}"/>
              </a:ext>
            </a:extLst>
          </p:cNvPr>
          <p:cNvSpPr txBox="1"/>
          <p:nvPr/>
        </p:nvSpPr>
        <p:spPr>
          <a:xfrm>
            <a:off x="8177145" y="2196852"/>
            <a:ext cx="38591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TABLE 1. MEAN ABSOLUTE ERRORS (MAE) FOR SELECTED CALIBRATION WINDOW SETS AND THE </a:t>
            </a:r>
            <a:r>
              <a:rPr lang="en-US" sz="900" b="1" dirty="0"/>
              <a:t>ARX </a:t>
            </a:r>
            <a:r>
              <a:rPr lang="en-US" sz="900" dirty="0"/>
              <a:t>(IN DESCENDING ORDER)</a:t>
            </a:r>
            <a:r>
              <a:rPr lang="en-US" sz="900" b="1" dirty="0"/>
              <a:t> </a:t>
            </a:r>
            <a:r>
              <a:rPr lang="en-US" sz="900" dirty="0"/>
              <a:t>MODEL. RELATIVE CHANGES (%CHNG.) WITH RESPECT TO THE WIN(728) MAE WITHIN EACH MODEL CLASS ARE ALSO REPORTED </a:t>
            </a:r>
            <a:r>
              <a:rPr lang="en-US" sz="900" b="1" dirty="0"/>
              <a:t>ARX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883637857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CBCB4-2CE3-9EBF-F4DA-A03556BE8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6D1EF21A-28F1-43E0-3A1E-EBAA1AC1CE7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007434" y="116632"/>
            <a:ext cx="11046297" cy="504056"/>
          </a:xfrm>
        </p:spPr>
        <p:txBody>
          <a:bodyPr/>
          <a:lstStyle/>
          <a:p>
            <a:r>
              <a:rPr lang="en-US" dirty="0"/>
              <a:t>A Note on Averaging Day-Ahead Electricity Price Forecasts Across Calibration Windows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71F8B0E8-9E85-7C39-862B-8A6350A9E7DB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4" y="620688"/>
            <a:ext cx="3720414" cy="504056"/>
          </a:xfrm>
        </p:spPr>
        <p:txBody>
          <a:bodyPr wrap="square" anchor="ctr">
            <a:noAutofit/>
          </a:bodyPr>
          <a:lstStyle/>
          <a:p>
            <a:pPr lvl="0"/>
            <a:r>
              <a:rPr lang="pl-PL" sz="3200" dirty="0" err="1"/>
              <a:t>Comparison</a:t>
            </a:r>
            <a:r>
              <a:rPr lang="pl-PL" sz="3200" dirty="0"/>
              <a:t> of </a:t>
            </a:r>
            <a:r>
              <a:rPr lang="pl-PL" sz="3200" dirty="0" err="1"/>
              <a:t>results</a:t>
            </a:r>
            <a:endParaRPr lang="pl-PL" sz="3200" dirty="0"/>
          </a:p>
        </p:txBody>
      </p:sp>
      <p:pic>
        <p:nvPicPr>
          <p:cNvPr id="7" name="Picture 6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0987BB6C-AC1E-5AD4-0062-062DAA1BC7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021" y="3808031"/>
            <a:ext cx="6191100" cy="29333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BD199B-FCAC-8655-76D0-EDBFB3645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848" y="620688"/>
            <a:ext cx="7124824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066996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94C52FC-50F3-515B-33D7-2DD490D0DBEB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A Note on Averaging Day-Ahead Electricity Price Forecasts Across Calibration Windows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EDEC5DA9-FBB0-00C9-6691-1121356F7EAB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007433" y="664302"/>
            <a:ext cx="11046299" cy="504056"/>
          </a:xfrm>
        </p:spPr>
        <p:txBody>
          <a:bodyPr/>
          <a:lstStyle/>
          <a:p>
            <a:pPr lvl="0"/>
            <a:r>
              <a:rPr lang="pl-PL" sz="3600" dirty="0" err="1"/>
              <a:t>Comarison</a:t>
            </a:r>
            <a:r>
              <a:rPr lang="pl-PL" sz="3600" dirty="0"/>
              <a:t> of </a:t>
            </a:r>
            <a:r>
              <a:rPr lang="pl-PL" sz="3600" dirty="0" err="1"/>
              <a:t>results</a:t>
            </a:r>
            <a:endParaRPr lang="pl-PL" sz="3600" dirty="0"/>
          </a:p>
        </p:txBody>
      </p:sp>
      <p:pic>
        <p:nvPicPr>
          <p:cNvPr id="6" name="Picture 5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59B06B6B-8042-9DDC-1E1D-1A67A57195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2941" y="1793089"/>
            <a:ext cx="5192943" cy="44006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1A3B7B5-A7C3-3B6F-B331-666A67A28146}"/>
              </a:ext>
            </a:extLst>
          </p:cNvPr>
          <p:cNvSpPr txBox="1"/>
          <p:nvPr/>
        </p:nvSpPr>
        <p:spPr>
          <a:xfrm>
            <a:off x="1199456" y="1398135"/>
            <a:ext cx="5040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ARX</a:t>
            </a:r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8D5A363-9C89-9AA6-5F2E-A9D985A791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029781"/>
              </p:ext>
            </p:extLst>
          </p:nvPr>
        </p:nvGraphicFramePr>
        <p:xfrm>
          <a:off x="1052993" y="1767467"/>
          <a:ext cx="5333485" cy="4899810"/>
        </p:xfrm>
        <a:graphic>
          <a:graphicData uri="http://schemas.openxmlformats.org/drawingml/2006/table">
            <a:tbl>
              <a:tblPr/>
              <a:tblGrid>
                <a:gridCol w="2757956">
                  <a:extLst>
                    <a:ext uri="{9D8B030D-6E8A-4147-A177-3AD203B41FA5}">
                      <a16:colId xmlns:a16="http://schemas.microsoft.com/office/drawing/2014/main" val="2936995748"/>
                    </a:ext>
                  </a:extLst>
                </a:gridCol>
                <a:gridCol w="797701">
                  <a:extLst>
                    <a:ext uri="{9D8B030D-6E8A-4147-A177-3AD203B41FA5}">
                      <a16:colId xmlns:a16="http://schemas.microsoft.com/office/drawing/2014/main" val="2988604727"/>
                    </a:ext>
                  </a:extLst>
                </a:gridCol>
                <a:gridCol w="1777828">
                  <a:extLst>
                    <a:ext uri="{9D8B030D-6E8A-4147-A177-3AD203B41FA5}">
                      <a16:colId xmlns:a16="http://schemas.microsoft.com/office/drawing/2014/main" val="1416861534"/>
                    </a:ext>
                  </a:extLst>
                </a:gridCol>
              </a:tblGrid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Windows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MAE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% change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379404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Win(28)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7.423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−6.09 %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776715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/>
                        <a:t>Win(364)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7.143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−2.41 %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566650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AW(364,728)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7.025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−0.77 %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70239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Win(728)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6.971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0.00 %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613633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AW(28:728)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6.916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0.79 %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0036226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AW(28:7:728)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6.910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0.88 %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3911760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AW(28:14:728)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6.902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0.99 %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5732592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AW(28:28:728)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6.888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1.21 %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567369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AW(56,728)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6.651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4.81 %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9337547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AW(28,728)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6.637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5.02 %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255861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AW(28:28:84,714:7:728)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6.618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5.33 %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0247264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AW(28,56,364,728)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6.593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5.72 %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072352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AW(28,56,728)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6.584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5.88 %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813401"/>
                  </a:ext>
                </a:extLst>
              </a:tr>
              <a:tr h="3219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/>
                        <a:t>AW(28,56,721,728)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6.566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/>
                        <a:t>6.16 %</a:t>
                      </a:r>
                    </a:p>
                  </a:txBody>
                  <a:tcPr marL="82815" marR="82815" marT="41407" marB="414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7807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770809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zawartości 1">
            <a:extLst>
              <a:ext uri="{FF2B5EF4-FFF2-40B4-BE49-F238E27FC236}">
                <a16:creationId xmlns:a16="http://schemas.microsoft.com/office/drawing/2014/main" id="{0C138FC9-5204-2C7A-0867-537A722F32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Font typeface="Wingdings" panose="05000000000000000000" pitchFamily="2" charset="2"/>
              <a:buChar char="ü"/>
            </a:pPr>
            <a:r>
              <a:rPr lang="en-US" b="1" dirty="0"/>
              <a:t>Data collected and preprocessed (GEFCom2014)</a:t>
            </a:r>
            <a:endParaRPr lang="pl-PL" b="1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b="1" dirty="0"/>
              <a:t>Full ARX model from the article implemented</a:t>
            </a:r>
            <a:endParaRPr lang="pl-PL" b="1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b="1" dirty="0"/>
              <a:t>Rolling windows of 28–728 days reproduced</a:t>
            </a:r>
            <a:endParaRPr lang="pl-PL" b="1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b="1" dirty="0"/>
              <a:t>Win(T) and all AW(T) sets computed</a:t>
            </a:r>
            <a:endParaRPr lang="pl-PL" b="1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b="1" dirty="0"/>
              <a:t>Plots obtained closely match Fig. 1–2 from the article</a:t>
            </a:r>
            <a:endParaRPr lang="pl-PL" b="1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b="1" dirty="0"/>
              <a:t>Main research findings successfully confirmed</a:t>
            </a:r>
            <a:endParaRPr lang="pl-PL" b="1" dirty="0"/>
          </a:p>
          <a:p>
            <a:pPr lvl="0">
              <a:buFont typeface="Wingdings" panose="05000000000000000000" pitchFamily="2" charset="2"/>
              <a:buChar char="ü"/>
            </a:pPr>
            <a:r>
              <a:rPr lang="en-US" b="1" dirty="0"/>
              <a:t>Comparison materials and documentation prepared</a:t>
            </a:r>
            <a:endParaRPr lang="pl-PL" b="1" dirty="0"/>
          </a:p>
          <a:p>
            <a:pPr>
              <a:buFont typeface="Wingdings" panose="05000000000000000000" pitchFamily="2" charset="2"/>
              <a:buChar char="ü"/>
            </a:pPr>
            <a:endParaRPr lang="pl-PL" dirty="0"/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B4C6B9F-3838-E6F5-9533-9A576AC186A3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D25D235-44E5-E4E7-8E04-50F594D5DD8F}"/>
              </a:ext>
            </a:extLst>
          </p:cNvPr>
          <p:cNvSpPr>
            <a:spLocks noGrp="1"/>
          </p:cNvSpPr>
          <p:nvPr>
            <p:ph type="body" idx="11"/>
          </p:nvPr>
        </p:nvSpPr>
        <p:spPr/>
        <p:txBody>
          <a:bodyPr/>
          <a:lstStyle/>
          <a:p>
            <a:r>
              <a:rPr lang="pl-PL" dirty="0"/>
              <a:t>Progress </a:t>
            </a:r>
            <a:r>
              <a:rPr lang="pl-PL" dirty="0" err="1"/>
              <a:t>summary</a:t>
            </a: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975855791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ymbol zastępczy tekstu 6">
            <a:extLst>
              <a:ext uri="{FF2B5EF4-FFF2-40B4-BE49-F238E27FC236}">
                <a16:creationId xmlns:a16="http://schemas.microsoft.com/office/drawing/2014/main" id="{F3AA150E-91F2-8556-1DFF-B835CBA034FA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1343472" y="2780928"/>
            <a:ext cx="11046299" cy="864096"/>
          </a:xfrm>
        </p:spPr>
        <p:txBody>
          <a:bodyPr/>
          <a:lstStyle/>
          <a:p>
            <a:r>
              <a:rPr lang="pl-PL" sz="6600" dirty="0" err="1"/>
              <a:t>Thank</a:t>
            </a:r>
            <a:r>
              <a:rPr lang="pl-PL" sz="6600" dirty="0"/>
              <a:t> </a:t>
            </a:r>
            <a:r>
              <a:rPr lang="pl-PL" sz="6600" dirty="0" err="1"/>
              <a:t>you</a:t>
            </a:r>
            <a:r>
              <a:rPr lang="pl-PL" sz="6600" dirty="0"/>
              <a:t> for </a:t>
            </a:r>
            <a:r>
              <a:rPr lang="pl-PL" sz="6600" dirty="0" err="1"/>
              <a:t>your</a:t>
            </a:r>
            <a:r>
              <a:rPr lang="pl-PL" sz="6600" dirty="0"/>
              <a:t> </a:t>
            </a:r>
            <a:r>
              <a:rPr lang="pl-PL" sz="6600" dirty="0" err="1"/>
              <a:t>attention</a:t>
            </a:r>
            <a:r>
              <a:rPr lang="pl-PL" sz="6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8794953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szablon1-PL">
  <a:themeElements>
    <a:clrScheme name="Odcienie szarości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zentacja_16x9_2024_PL_v1" id="{8FB10544-9DAC-4AF5-A820-ABE75E5ABB0F}" vid="{91C4030D-1BBB-4428-B870-B723CF3A8B7B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prezentacja_16x9_2024_pl_v1</Template>
  <TotalTime>740</TotalTime>
  <Words>376</Words>
  <Application>Microsoft Macintosh PowerPoint</Application>
  <PresentationFormat>Widescreen</PresentationFormat>
  <Paragraphs>78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Trebuchet MS</vt:lpstr>
      <vt:lpstr>Wingdings</vt:lpstr>
      <vt:lpstr>szablon1-PL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Wojciech Warzecha (267883)</dc:creator>
  <cp:lastModifiedBy>Iga Moskwa (266644)</cp:lastModifiedBy>
  <cp:revision>11</cp:revision>
  <cp:lastPrinted>2017-02-27T13:04:48Z</cp:lastPrinted>
  <dcterms:created xsi:type="dcterms:W3CDTF">2025-10-11T13:12:57Z</dcterms:created>
  <dcterms:modified xsi:type="dcterms:W3CDTF">2025-12-02T18:41:17Z</dcterms:modified>
</cp:coreProperties>
</file>